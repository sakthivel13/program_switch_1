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570668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FF00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A48BF-AE08-97DF-B237-FDBBA897E0CE}" v="196" dt="2026-03-13T09:16:03.754"/>
    <p1510:client id="{662C6B5D-B815-8122-C942-B623B8999CEA}" v="117" dt="2026-03-13T08:56:06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83" d="100"/>
          <a:sy n="83" d="100"/>
        </p:scale>
        <p:origin x="6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FC282-9B96-4404-B29C-3F7E208AEF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FA887-E163-4D7A-B1D9-18CE1542A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51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B558-9E87-2293-5BB7-AAC4CD9D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87CFF-ABE6-DB69-70E0-4B3FC0997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F9F97-5C42-49DA-7C7D-BE496C776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1A79B-4841-9E36-37BE-1AC0270D5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FA887-E163-4D7A-B1D9-18CE1542AF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85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85B7-B3A3-0975-3B09-182E0D684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2E21B-87CD-A890-416A-FB4DD46FD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954AB-FA52-8978-6B74-76D0A048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3959B-A409-F19F-053E-8E93C697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4E331-F9E1-5EEA-D029-114998E9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6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5022-1C57-99DD-63BD-630182A7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55291-411A-E98D-FEBD-A0605C2DB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1D946-61E3-560D-98DD-DFF7C8D9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85CDF-1D44-784E-2214-9D08539C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F86F-BB76-556F-475C-82B77E25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4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8064-1D8D-0A57-CFB0-5D5931140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095B-6B30-5C03-7A08-1B1E5B9B7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D1EF5-634B-5BFE-18D1-137CB215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00E1C-CC64-7B14-B46C-471B9494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3167E-A84B-0758-A8A0-051FEF68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8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18A1-CF46-4190-DF23-CEF791CA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0A7D6-E273-F9B1-EDF8-EED11DB49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057E2-1383-721E-030F-01A2F2782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30142-88AC-9757-5A61-BBC543FA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75E4E-8ED9-7698-EDE3-24EC842C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8CF15-0DE8-17A4-4DD8-A3AC3F85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0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E168-26B4-0524-BD6B-FFBDE0E2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C61D5-A788-E765-A7C2-12848B2CE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7E158-9243-9751-E8A1-FD680EB92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E27CB-BF0C-0E21-37D2-EF15F2180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E7E8B-9E5F-4DEF-AA4D-B7D06AFA2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37DCA-AEAF-655E-8FDF-F210B01A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F3089-3C76-93F0-00B2-C1D4F98D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4AA88-ADA5-3AA4-2DB3-5634CEC3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FB02-24C8-614E-B664-3D2127AD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5F4C3-397C-3FCF-24B3-6E094C52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62B95-A7D8-9B7B-387F-171DE047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49F59-5E7B-FD38-D1AE-C447D167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2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68964-3357-A057-D72A-773D4C7B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8C38D-85CF-13DF-DF8A-8D7C93B8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85ADA-85B3-BF17-163B-470AD0BE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4AC0-625F-C9E9-56A8-22F94D28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40657-A9AC-AFB3-A748-8C1DE184B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CDB73-5936-60B7-6A25-98E913E2D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1533B-10E2-58A8-38D1-6D5CF481D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14A42-62DF-B56A-BB88-35935113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10A39-AB65-8D10-1F2F-95BFCD8A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3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3E91-57F1-275F-D3BE-6B2490EB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43F9B-D1A3-9BBF-B42E-F44512150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1ACD1-7949-65F7-50B0-245D065FF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23C1-0B55-634B-C3C6-AA45F309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0AB40-D06A-609C-F25F-1DC84061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0FFC1-2D54-BEF3-4D7E-15C48567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6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8058-63BB-457C-FC3B-E7D4F4CC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22849-E534-C3E1-0ADB-F1857B36E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B796-243D-DB68-EFAD-2F129A30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1F371-B5F0-105D-AA36-77B58589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2B39B-F6D0-F048-90EF-B0E9CA2B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8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4B62D-C2AB-E93C-9FD8-7A594EE66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225B1-6355-D188-CFBE-A728DFE87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FF0D3-768A-F74E-5643-0D592700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2347F-4A48-E2C1-046F-2A43058C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F8080-1658-A6F6-FC07-E51D8B876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1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B1EFAD6-5298-1B66-7720-C402E3EC46D4}"/>
              </a:ext>
            </a:extLst>
          </p:cNvPr>
          <p:cNvSpPr/>
          <p:nvPr userDrawn="1"/>
        </p:nvSpPr>
        <p:spPr>
          <a:xfrm>
            <a:off x="11771693" y="6628370"/>
            <a:ext cx="279176" cy="190521"/>
          </a:xfrm>
          <a:prstGeom prst="parallelogram">
            <a:avLst/>
          </a:prstGeom>
          <a:gradFill flip="none" rotWithShape="1">
            <a:gsLst>
              <a:gs pos="55000">
                <a:srgbClr val="751C6A"/>
              </a:gs>
              <a:gs pos="12000">
                <a:srgbClr val="003399"/>
              </a:gs>
              <a:gs pos="100000">
                <a:srgbClr val="FF003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1525198">
              <a:defRPr/>
            </a:pPr>
            <a:endParaRPr lang="en-US" altLang="en-US" sz="6611" b="1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490A1-A8F4-E518-6C82-E6F4878D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D6361-986A-A2A4-3B4C-4F7771A6A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BF088-5251-EA5B-3C74-ED5A9CB75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2A07B-734D-4147-A028-A55E2EC6BAE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F2F04-8FFA-6D88-7402-E045CCE27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CE7F-4363-0D44-F487-61CA40091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66B49-CD87-42D2-98A4-90681858A0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A172748F-70B7-A34D-B22D-2AB802DB6A57}"/>
              </a:ext>
            </a:extLst>
          </p:cNvPr>
          <p:cNvSpPr txBox="1">
            <a:spLocks/>
          </p:cNvSpPr>
          <p:nvPr userDrawn="1"/>
        </p:nvSpPr>
        <p:spPr>
          <a:xfrm>
            <a:off x="11663248" y="6569784"/>
            <a:ext cx="508200" cy="302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73C415-D670-4716-A5EC-CC4D52CA2B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460A389D-94CF-B999-E91D-832AF041A179}"/>
              </a:ext>
            </a:extLst>
          </p:cNvPr>
          <p:cNvSpPr txBox="1">
            <a:spLocks/>
          </p:cNvSpPr>
          <p:nvPr userDrawn="1"/>
        </p:nvSpPr>
        <p:spPr>
          <a:xfrm>
            <a:off x="4789681" y="6619069"/>
            <a:ext cx="2659976" cy="1985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1000" dirty="0">
                <a:solidFill>
                  <a:srgbClr val="00339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Monthly PDCA – November 2025</a:t>
            </a:r>
            <a:endParaRPr lang="en-IN" sz="1000" dirty="0">
              <a:solidFill>
                <a:srgbClr val="00339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9EEDA-BA11-23E2-5DD7-5A70B2482545}"/>
              </a:ext>
            </a:extLst>
          </p:cNvPr>
          <p:cNvSpPr/>
          <p:nvPr userDrawn="1"/>
        </p:nvSpPr>
        <p:spPr>
          <a:xfrm>
            <a:off x="0" y="6569171"/>
            <a:ext cx="12192000" cy="50293"/>
          </a:xfrm>
          <a:prstGeom prst="rect">
            <a:avLst/>
          </a:prstGeom>
          <a:gradFill flip="none" rotWithShape="1">
            <a:gsLst>
              <a:gs pos="51000">
                <a:srgbClr val="004A8F"/>
              </a:gs>
              <a:gs pos="49000">
                <a:srgbClr val="FF0033"/>
              </a:gs>
              <a:gs pos="0">
                <a:srgbClr val="FF0033"/>
              </a:gs>
              <a:gs pos="100000">
                <a:srgbClr val="003399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8653AB-07E3-E436-A804-02FDE3326BA5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79308" y="639368"/>
            <a:ext cx="11857588" cy="7157"/>
          </a:xfrm>
          <a:prstGeom prst="line">
            <a:avLst/>
          </a:prstGeom>
          <a:solidFill>
            <a:schemeClr val="bg1"/>
          </a:solidFill>
          <a:ln w="28575" cap="flat" cmpd="sng" algn="ctr">
            <a:gradFill flip="none" rotWithShape="1">
              <a:gsLst>
                <a:gs pos="50000">
                  <a:srgbClr val="000099"/>
                </a:gs>
                <a:gs pos="49000">
                  <a:srgbClr val="FF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14" name="Picture 10">
            <a:extLst>
              <a:ext uri="{FF2B5EF4-FFF2-40B4-BE49-F238E27FC236}">
                <a16:creationId xmlns:a16="http://schemas.microsoft.com/office/drawing/2014/main" id="{586E4C32-C718-46E9-1E65-0CC631D46F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8" y="106051"/>
            <a:ext cx="1063692" cy="57029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3">
            <a:extLst>
              <a:ext uri="{FF2B5EF4-FFF2-40B4-BE49-F238E27FC236}">
                <a16:creationId xmlns:a16="http://schemas.microsoft.com/office/drawing/2014/main" id="{6C0D2CCD-A740-37F8-E5F6-2A653BE94F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76233"/>
            <a:ext cx="1092035" cy="60956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465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D12F-6422-03F2-2EF2-71C20396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6A1ED50A-2549-B25C-9564-0A2C46D0F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516" y="666230"/>
            <a:ext cx="104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Result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09F7817-BE07-5B65-7981-CE301EC0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32706"/>
            <a:ext cx="31934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800" dirty="0">
                <a:solidFill>
                  <a:srgbClr val="0000CC"/>
                </a:solidFill>
              </a:rPr>
              <a:t>Contribution details: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1BAE0448-ED30-C57F-FADB-17771991C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2299486"/>
            <a:ext cx="31934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800" dirty="0">
                <a:solidFill>
                  <a:srgbClr val="0000CC"/>
                </a:solidFill>
              </a:rPr>
              <a:t>Accountability area: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206C4E05-0768-A0CC-1A3D-D4E1BCCC3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1" y="3804896"/>
            <a:ext cx="11679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800" dirty="0">
                <a:solidFill>
                  <a:srgbClr val="0000CC"/>
                </a:solidFill>
              </a:rPr>
              <a:t>Process: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3DCF77-7449-608A-6A6D-A46D2ADB3828}"/>
              </a:ext>
            </a:extLst>
          </p:cNvPr>
          <p:cNvCxnSpPr>
            <a:cxnSpLocks/>
          </p:cNvCxnSpPr>
          <p:nvPr/>
        </p:nvCxnSpPr>
        <p:spPr bwMode="auto">
          <a:xfrm>
            <a:off x="6248400" y="679554"/>
            <a:ext cx="0" cy="5797446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E9C5DB-EE05-C080-0E16-8EABCE825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446364"/>
              </p:ext>
            </p:extLst>
          </p:nvPr>
        </p:nvGraphicFramePr>
        <p:xfrm>
          <a:off x="76200" y="668668"/>
          <a:ext cx="6090422" cy="1649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9151">
                  <a:extLst>
                    <a:ext uri="{9D8B030D-6E8A-4147-A177-3AD203B41FA5}">
                      <a16:colId xmlns:a16="http://schemas.microsoft.com/office/drawing/2014/main" val="2007025174"/>
                    </a:ext>
                  </a:extLst>
                </a:gridCol>
                <a:gridCol w="1653929">
                  <a:extLst>
                    <a:ext uri="{9D8B030D-6E8A-4147-A177-3AD203B41FA5}">
                      <a16:colId xmlns:a16="http://schemas.microsoft.com/office/drawing/2014/main" val="2331275136"/>
                    </a:ext>
                  </a:extLst>
                </a:gridCol>
                <a:gridCol w="3037342">
                  <a:extLst>
                    <a:ext uri="{9D8B030D-6E8A-4147-A177-3AD203B41FA5}">
                      <a16:colId xmlns:a16="http://schemas.microsoft.com/office/drawing/2014/main" val="3639287975"/>
                    </a:ext>
                  </a:extLst>
                </a:gridCol>
              </a:tblGrid>
              <a:tr h="510329">
                <a:tc rowSpan="4">
                  <a:txBody>
                    <a:bodyPr/>
                    <a:lstStyle/>
                    <a:p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Sri Sakthivel R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316043"/>
                  </a:ext>
                </a:extLst>
              </a:tr>
              <a:tr h="379887">
                <a:tc vMerge="1">
                  <a:txBody>
                    <a:bodyPr/>
                    <a:lstStyle/>
                    <a:p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17316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517656"/>
                  </a:ext>
                </a:extLst>
              </a:tr>
              <a:tr h="379887">
                <a:tc vMerge="1">
                  <a:txBody>
                    <a:bodyPr/>
                    <a:lstStyle/>
                    <a:p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 Thangarajan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548141"/>
                  </a:ext>
                </a:extLst>
              </a:tr>
              <a:tr h="379887">
                <a:tc vMerge="1">
                  <a:txBody>
                    <a:bodyPr/>
                    <a:lstStyle/>
                    <a:p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 /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 - CT&amp;T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56418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E974282-11C5-CD24-B85C-97D2FA87F09B}"/>
              </a:ext>
            </a:extLst>
          </p:cNvPr>
          <p:cNvSpPr txBox="1"/>
          <p:nvPr/>
        </p:nvSpPr>
        <p:spPr>
          <a:xfrm>
            <a:off x="2247677" y="2252807"/>
            <a:ext cx="2432369" cy="41601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Digitalization </a:t>
            </a:r>
            <a:endParaRPr lang="en-US" dirty="0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BF799C72-264D-28BB-267F-2589A297F420}"/>
              </a:ext>
            </a:extLst>
          </p:cNvPr>
          <p:cNvSpPr/>
          <p:nvPr/>
        </p:nvSpPr>
        <p:spPr>
          <a:xfrm>
            <a:off x="1260355" y="56550"/>
            <a:ext cx="9788645" cy="531277"/>
          </a:xfrm>
          <a:prstGeom prst="parallelogram">
            <a:avLst/>
          </a:prstGeom>
          <a:gradFill flip="none" rotWithShape="1">
            <a:gsLst>
              <a:gs pos="55000">
                <a:srgbClr val="751C6A"/>
              </a:gs>
              <a:gs pos="12000">
                <a:srgbClr val="003399"/>
              </a:gs>
              <a:gs pos="100000">
                <a:srgbClr val="FF003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1525198">
              <a:defRPr/>
            </a:pPr>
            <a:endParaRPr lang="en-US" altLang="en-US" sz="6611" b="1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48F810-AAC9-0CC3-79BA-28C3F2A23C80}"/>
              </a:ext>
            </a:extLst>
          </p:cNvPr>
          <p:cNvSpPr txBox="1"/>
          <p:nvPr/>
        </p:nvSpPr>
        <p:spPr>
          <a:xfrm>
            <a:off x="1502230" y="76195"/>
            <a:ext cx="8773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contributors – March 2026</a:t>
            </a: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5235E625-436D-B7E9-923B-567A51D21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701" y="4386632"/>
            <a:ext cx="41347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800" dirty="0">
                <a:solidFill>
                  <a:srgbClr val="0000CC"/>
                </a:solidFill>
              </a:rPr>
              <a:t>Horizontal deployment: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EBCCB9D-D5AE-DA6D-7C1F-CB18FD9BE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76556"/>
              </p:ext>
            </p:extLst>
          </p:nvPr>
        </p:nvGraphicFramePr>
        <p:xfrm>
          <a:off x="6483900" y="4767249"/>
          <a:ext cx="5563014" cy="529520"/>
        </p:xfrm>
        <a:graphic>
          <a:graphicData uri="http://schemas.openxmlformats.org/drawingml/2006/table">
            <a:tbl>
              <a:tblPr/>
              <a:tblGrid>
                <a:gridCol w="1390754">
                  <a:extLst>
                    <a:ext uri="{9D8B030D-6E8A-4147-A177-3AD203B41FA5}">
                      <a16:colId xmlns:a16="http://schemas.microsoft.com/office/drawing/2014/main" val="1923634528"/>
                    </a:ext>
                  </a:extLst>
                </a:gridCol>
                <a:gridCol w="1043065">
                  <a:extLst>
                    <a:ext uri="{9D8B030D-6E8A-4147-A177-3AD203B41FA5}">
                      <a16:colId xmlns:a16="http://schemas.microsoft.com/office/drawing/2014/main" val="2631450656"/>
                    </a:ext>
                  </a:extLst>
                </a:gridCol>
                <a:gridCol w="1043065">
                  <a:extLst>
                    <a:ext uri="{9D8B030D-6E8A-4147-A177-3AD203B41FA5}">
                      <a16:colId xmlns:a16="http://schemas.microsoft.com/office/drawing/2014/main" val="1805836209"/>
                    </a:ext>
                  </a:extLst>
                </a:gridCol>
                <a:gridCol w="1043065">
                  <a:extLst>
                    <a:ext uri="{9D8B030D-6E8A-4147-A177-3AD203B41FA5}">
                      <a16:colId xmlns:a16="http://schemas.microsoft.com/office/drawing/2014/main" val="3637872296"/>
                    </a:ext>
                  </a:extLst>
                </a:gridCol>
                <a:gridCol w="1043065">
                  <a:extLst>
                    <a:ext uri="{9D8B030D-6E8A-4147-A177-3AD203B41FA5}">
                      <a16:colId xmlns:a16="http://schemas.microsoft.com/office/drawing/2014/main" val="1464173549"/>
                    </a:ext>
                  </a:extLst>
                </a:gridCol>
              </a:tblGrid>
              <a:tr h="264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Applicability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Plant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Avigna Plant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611969"/>
                  </a:ext>
                </a:extLst>
              </a:tr>
              <a:tr h="264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CC"/>
                          </a:solidFill>
                          <a:effectLst/>
                          <a:latin typeface="Webdings" panose="05030102010509060703" pitchFamily="18" charset="2"/>
                        </a:rPr>
                        <a:t>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CC"/>
                          </a:solidFill>
                          <a:effectLst/>
                          <a:latin typeface="Webdings" panose="05030102010509060703" pitchFamily="18" charset="2"/>
                        </a:rPr>
                        <a:t>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CC"/>
                          </a:solidFill>
                          <a:effectLst/>
                          <a:latin typeface="Webdings" panose="05030102010509060703" pitchFamily="18" charset="2"/>
                        </a:rPr>
                        <a:t>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CC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dirty="0"/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541487"/>
                  </a:ext>
                </a:extLst>
              </a:tr>
            </a:tbl>
          </a:graphicData>
        </a:graphic>
      </p:graphicFrame>
      <p:sp>
        <p:nvSpPr>
          <p:cNvPr id="35" name="Text Box 2">
            <a:extLst>
              <a:ext uri="{FF2B5EF4-FFF2-40B4-BE49-F238E27FC236}">
                <a16:creationId xmlns:a16="http://schemas.microsoft.com/office/drawing/2014/main" id="{AA8A41F2-902A-0C69-D371-16475A805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987" y="5311443"/>
            <a:ext cx="41347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99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800" dirty="0">
                <a:solidFill>
                  <a:srgbClr val="0000CC"/>
                </a:solidFill>
              </a:rPr>
              <a:t>Cross functional team: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163C32D-A79C-0073-DBA6-63ACA7624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420081"/>
              </p:ext>
            </p:extLst>
          </p:nvPr>
        </p:nvGraphicFramePr>
        <p:xfrm>
          <a:off x="6483900" y="5710122"/>
          <a:ext cx="4275945" cy="526132"/>
        </p:xfrm>
        <a:graphic>
          <a:graphicData uri="http://schemas.openxmlformats.org/drawingml/2006/table">
            <a:tbl>
              <a:tblPr/>
              <a:tblGrid>
                <a:gridCol w="1710379">
                  <a:extLst>
                    <a:ext uri="{9D8B030D-6E8A-4147-A177-3AD203B41FA5}">
                      <a16:colId xmlns:a16="http://schemas.microsoft.com/office/drawing/2014/main" val="1923634528"/>
                    </a:ext>
                  </a:extLst>
                </a:gridCol>
                <a:gridCol w="1296461">
                  <a:extLst>
                    <a:ext uri="{9D8B030D-6E8A-4147-A177-3AD203B41FA5}">
                      <a16:colId xmlns:a16="http://schemas.microsoft.com/office/drawing/2014/main" val="2631450656"/>
                    </a:ext>
                  </a:extLst>
                </a:gridCol>
                <a:gridCol w="1269105">
                  <a:extLst>
                    <a:ext uri="{9D8B030D-6E8A-4147-A177-3AD203B41FA5}">
                      <a16:colId xmlns:a16="http://schemas.microsoft.com/office/drawing/2014/main" val="1805836209"/>
                    </a:ext>
                  </a:extLst>
                </a:gridCol>
              </a:tblGrid>
              <a:tr h="2630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Ashok L.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David 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Wisson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611969"/>
                  </a:ext>
                </a:extLst>
              </a:tr>
              <a:tr h="2630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Department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D&amp;AI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Norton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5414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ECDE49-803C-6837-9A99-35C3B117D985}"/>
              </a:ext>
            </a:extLst>
          </p:cNvPr>
          <p:cNvSpPr txBox="1"/>
          <p:nvPr/>
        </p:nvSpPr>
        <p:spPr>
          <a:xfrm>
            <a:off x="134362" y="2671289"/>
            <a:ext cx="5978723" cy="11661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indent="0">
              <a:buNone/>
              <a:defRPr/>
            </a:pPr>
            <a:endParaRPr lang="en-US" sz="120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Expected lead time reduction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 to 4 weeks for new controller introduction</a:t>
            </a:r>
          </a:p>
          <a:p>
            <a:pPr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Expected investment reduction up to 10 lakhs per model</a:t>
            </a:r>
          </a:p>
          <a:p>
            <a:pPr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Increased control over revision of EOL application software and program changes 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D7F60-F60E-A44D-B26A-DE14914CBC57}"/>
              </a:ext>
            </a:extLst>
          </p:cNvPr>
          <p:cNvSpPr txBox="1"/>
          <p:nvPr/>
        </p:nvSpPr>
        <p:spPr>
          <a:xfrm>
            <a:off x="145086" y="3872248"/>
            <a:ext cx="6090420" cy="273581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P</a:t>
            </a:r>
            <a:r>
              <a:rPr lang="en-US" sz="1200" dirty="0">
                <a:latin typeface="Arial"/>
                <a:cs typeface="Arial"/>
                <a:sym typeface="Wingdings" panose="05000000000000000000" pitchFamily="2" charset="2"/>
              </a:rPr>
              <a:t> 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1200" dirty="0">
                <a:latin typeface="Arial"/>
                <a:cs typeface="Arial"/>
              </a:rPr>
              <a:t>Standardized process reduces variability in development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Q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  <a:sym typeface="Wingdings" panose="05000000000000000000" pitchFamily="2" charset="2"/>
              </a:rPr>
              <a:t>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1200" dirty="0">
                <a:latin typeface="Arial"/>
                <a:cs typeface="Arial"/>
              </a:rPr>
              <a:t>Version control and validation steps can be built in, ensuring all parameters are correct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1200" dirty="0">
                <a:latin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en-GB" sz="1200" dirty="0">
                <a:latin typeface="Arial"/>
                <a:cs typeface="Arial"/>
              </a:rPr>
              <a:t>Inhouse development of NirixX Application for RVS station reduces investment to supplier from 10 to 1 Lakh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D</a:t>
            </a:r>
            <a:r>
              <a:rPr lang="en-US" sz="1200" dirty="0">
                <a:latin typeface="Arial"/>
                <a:cs typeface="Arial"/>
                <a:sym typeface="Wingdings" panose="05000000000000000000" pitchFamily="2" charset="2"/>
              </a:rPr>
              <a:t> 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1200" dirty="0">
                <a:latin typeface="Arial"/>
                <a:cs typeface="Arial"/>
              </a:rPr>
              <a:t>Faster time-to-production when software changes are needed – Expected time reduction from 16 Weeks to 4 Weeks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M</a:t>
            </a:r>
            <a:r>
              <a:rPr lang="en-US" sz="1200" dirty="0">
                <a:latin typeface="Arial"/>
                <a:cs typeface="Arial"/>
                <a:sym typeface="Wingdings" panose="05000000000000000000" pitchFamily="2" charset="2"/>
              </a:rPr>
              <a:t> 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1200" dirty="0">
                <a:latin typeface="Arial"/>
                <a:cs typeface="Arial"/>
              </a:rPr>
              <a:t>Less stress from dealing with errors or complications of 3rd-party tools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"/>
                <a:cs typeface="Arial"/>
                <a:sym typeface="Wingdings" panose="05000000000000000000" pitchFamily="2" charset="2"/>
              </a:rPr>
              <a:t>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Reduced manual intervention minimizes risk to operators and equipment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9F1905-AA05-AE6B-4C0E-912792F21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4" y="701326"/>
            <a:ext cx="1317171" cy="1586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C50D01-BCDC-F209-035A-9A4992732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060" y="1063920"/>
            <a:ext cx="5632444" cy="314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86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6433</TotalTime>
  <Words>187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Webdings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Kumaran (TQC/Hosur/TVSMotor)</dc:creator>
  <cp:lastModifiedBy>Sri Sakthivel R (PED/Hosur/TVSMotor)</cp:lastModifiedBy>
  <cp:revision>155</cp:revision>
  <dcterms:created xsi:type="dcterms:W3CDTF">2025-06-19T09:10:25Z</dcterms:created>
  <dcterms:modified xsi:type="dcterms:W3CDTF">2026-03-13T09:24:28Z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941a1e-f325-4a06-ae0c-5d5a067b801b_Enabled">
    <vt:lpwstr>true</vt:lpwstr>
  </property>
  <property fmtid="{D5CDD505-2E9C-101B-9397-08002B2CF9AE}" pid="3" name="MSIP_Label_0b941a1e-f325-4a06-ae0c-5d5a067b801b_SetDate">
    <vt:lpwstr>2025-06-19T09:15:46Z</vt:lpwstr>
  </property>
  <property fmtid="{D5CDD505-2E9C-101B-9397-08002B2CF9AE}" pid="4" name="MSIP_Label_0b941a1e-f325-4a06-ae0c-5d5a067b801b_Method">
    <vt:lpwstr>Privileged</vt:lpwstr>
  </property>
  <property fmtid="{D5CDD505-2E9C-101B-9397-08002B2CF9AE}" pid="5" name="MSIP_Label_0b941a1e-f325-4a06-ae0c-5d5a067b801b_Name">
    <vt:lpwstr>Internal</vt:lpwstr>
  </property>
  <property fmtid="{D5CDD505-2E9C-101B-9397-08002B2CF9AE}" pid="6" name="MSIP_Label_0b941a1e-f325-4a06-ae0c-5d5a067b801b_SiteId">
    <vt:lpwstr>d30feff3-78f9-476a-81e4-c71b80743988</vt:lpwstr>
  </property>
  <property fmtid="{D5CDD505-2E9C-101B-9397-08002B2CF9AE}" pid="7" name="MSIP_Label_0b941a1e-f325-4a06-ae0c-5d5a067b801b_ActionId">
    <vt:lpwstr>1785b813-e4ae-4cf1-a130-21a201e74b1f</vt:lpwstr>
  </property>
  <property fmtid="{D5CDD505-2E9C-101B-9397-08002B2CF9AE}" pid="8" name="MSIP_Label_0b941a1e-f325-4a06-ae0c-5d5a067b801b_ContentBits">
    <vt:lpwstr>0</vt:lpwstr>
  </property>
  <property fmtid="{D5CDD505-2E9C-101B-9397-08002B2CF9AE}" pid="9" name="MSIP_Label_0b941a1e-f325-4a06-ae0c-5d5a067b801b_Tag">
    <vt:lpwstr>10, 0, 1, 1</vt:lpwstr>
  </property>
</Properties>
</file>